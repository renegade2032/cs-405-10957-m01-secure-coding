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19"/>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x="12192000" cy="6858000"/>
  <p:notesSz cx="6858000" cy="9144000"/>
  <p:embeddedFontLst>
    <p:embeddedFont>
      <p:font typeface="Century Gothic" panose="020B0502020202020204" pitchFamily="34" charset="0"/>
      <p:regular r:id="rId20"/>
      <p:bold r:id="rId21"/>
      <p:italic r:id="rId22"/>
      <p:boldItalic r:id="rId23"/>
    </p:embeddedFont>
  </p:embeddedFontLst>
  <p:custDataLst>
    <p:tags r:id="rId24"/>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5" roundtripDataSignature="AMtx7mhlYlCtF+airiOZksSy3UV5ad0g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02198C4-3087-4945-87E3-76CBB3509B7E}">
  <a:tblStyle styleId="{802198C4-3087-4945-87E3-76CBB3509B7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font" Target="fonts/font2.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customschemas.google.com/relationships/presentationmetadata" Target="meta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font" Target="fonts/font1.fntdata"/><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gs" Target="tags/tag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4.fntdata"/><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3.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6391965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9" name="Google Shape;14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7" name="Google Shape;15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5" name="Google Shape;16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2" name="Google Shape;17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9" name="Google Shape;17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6" name="Google Shape;18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9504e295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0" name="Google Shape;20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7" name="Google Shape;20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4" name="Google Shape;21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1" name="Google Shape;22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8" name="Google Shape;22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5" name="Google Shape;23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1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4" name="Google Shape;14;p16"/>
          <p:cNvSpPr txBox="1">
            <a:spLocks noGrp="1"/>
          </p:cNvSpPr>
          <p:nvPr>
            <p:ph type="ctrTitle"/>
          </p:nvPr>
        </p:nvSpPr>
        <p:spPr>
          <a:xfrm>
            <a:off x="1371600" y="1803405"/>
            <a:ext cx="9448800" cy="182509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6"/>
          <p:cNvSpPr txBox="1">
            <a:spLocks noGrp="1"/>
          </p:cNvSpPr>
          <p:nvPr>
            <p:ph type="subTitle" idx="1"/>
          </p:nvPr>
        </p:nvSpPr>
        <p:spPr>
          <a:xfrm>
            <a:off x="1371600" y="3632201"/>
            <a:ext cx="9448800" cy="6858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6" name="Google Shape;16;p16"/>
          <p:cNvSpPr txBox="1">
            <a:spLocks noGrp="1"/>
          </p:cNvSpPr>
          <p:nvPr>
            <p:ph type="dt" idx="10"/>
          </p:nvPr>
        </p:nvSpPr>
        <p:spPr>
          <a:xfrm>
            <a:off x="7909561" y="4314328"/>
            <a:ext cx="2910840" cy="37464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6"/>
          <p:cNvSpPr txBox="1">
            <a:spLocks noGrp="1"/>
          </p:cNvSpPr>
          <p:nvPr>
            <p:ph type="ftr" idx="11"/>
          </p:nvPr>
        </p:nvSpPr>
        <p:spPr>
          <a:xfrm>
            <a:off x="1371600" y="4323845"/>
            <a:ext cx="6400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6"/>
          <p:cNvSpPr txBox="1">
            <a:spLocks noGrp="1"/>
          </p:cNvSpPr>
          <p:nvPr>
            <p:ph type="sldNum" idx="12"/>
          </p:nvPr>
        </p:nvSpPr>
        <p:spPr>
          <a:xfrm>
            <a:off x="8077200" y="1430866"/>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2" name="Google Shape;22;p17"/>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7"/>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7"/>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5"/>
        <p:cNvGrpSpPr/>
        <p:nvPr/>
      </p:nvGrpSpPr>
      <p:grpSpPr>
        <a:xfrm>
          <a:off x="0" y="0"/>
          <a:ext cx="0" cy="0"/>
          <a:chOff x="0" y="0"/>
          <a:chExt cx="0" cy="0"/>
        </a:xfrm>
      </p:grpSpPr>
      <p:pic>
        <p:nvPicPr>
          <p:cNvPr id="26" name="Google Shape;26;p1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27" name="Google Shape;27;p18"/>
          <p:cNvSpPr txBox="1">
            <a:spLocks noGrp="1"/>
          </p:cNvSpPr>
          <p:nvPr>
            <p:ph type="title"/>
          </p:nvPr>
        </p:nvSpPr>
        <p:spPr>
          <a:xfrm>
            <a:off x="685800" y="753533"/>
            <a:ext cx="10820399" cy="2801935"/>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chemeClr val="lt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body" idx="1"/>
          </p:nvPr>
        </p:nvSpPr>
        <p:spPr>
          <a:xfrm>
            <a:off x="1024467" y="3641725"/>
            <a:ext cx="10490200" cy="955675"/>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chemeClr val="lt1"/>
              </a:buClr>
              <a:buSzPts val="2200"/>
              <a:buNone/>
              <a:defRPr sz="2200">
                <a:solidFill>
                  <a:schemeClr val="lt1"/>
                </a:solidFill>
              </a:defRPr>
            </a:lvl1pPr>
            <a:lvl2pPr marL="914400" lvl="1" indent="-228600" algn="l">
              <a:lnSpc>
                <a:spcPct val="90000"/>
              </a:lnSpc>
              <a:spcBef>
                <a:spcPts val="500"/>
              </a:spcBef>
              <a:spcAft>
                <a:spcPts val="0"/>
              </a:spcAft>
              <a:buClr>
                <a:schemeClr val="lt1"/>
              </a:buClr>
              <a:buSzPts val="2000"/>
              <a:buNone/>
              <a:defRPr sz="2000">
                <a:solidFill>
                  <a:schemeClr val="lt1"/>
                </a:solidFill>
              </a:defRPr>
            </a:lvl2pPr>
            <a:lvl3pPr marL="1371600" lvl="2" indent="-228600" algn="l">
              <a:lnSpc>
                <a:spcPct val="90000"/>
              </a:lnSpc>
              <a:spcBef>
                <a:spcPts val="500"/>
              </a:spcBef>
              <a:spcAft>
                <a:spcPts val="0"/>
              </a:spcAft>
              <a:buClr>
                <a:schemeClr val="lt1"/>
              </a:buClr>
              <a:buSzPts val="1800"/>
              <a:buNone/>
              <a:defRPr sz="1800">
                <a:solidFill>
                  <a:schemeClr val="lt1"/>
                </a:solidFill>
              </a:defRPr>
            </a:lvl3pPr>
            <a:lvl4pPr marL="1828800" lvl="3" indent="-228600" algn="l">
              <a:lnSpc>
                <a:spcPct val="90000"/>
              </a:lnSpc>
              <a:spcBef>
                <a:spcPts val="500"/>
              </a:spcBef>
              <a:spcAft>
                <a:spcPts val="0"/>
              </a:spcAft>
              <a:buClr>
                <a:schemeClr val="lt1"/>
              </a:buClr>
              <a:buSzPts val="1600"/>
              <a:buNone/>
              <a:defRPr sz="1600">
                <a:solidFill>
                  <a:schemeClr val="lt1"/>
                </a:solidFill>
              </a:defRPr>
            </a:lvl4pPr>
            <a:lvl5pPr marL="2286000" lvl="4" indent="-228600" algn="l">
              <a:lnSpc>
                <a:spcPct val="90000"/>
              </a:lnSpc>
              <a:spcBef>
                <a:spcPts val="500"/>
              </a:spcBef>
              <a:spcAft>
                <a:spcPts val="0"/>
              </a:spcAft>
              <a:buClr>
                <a:schemeClr val="lt1"/>
              </a:buClr>
              <a:buSzPts val="1600"/>
              <a:buNone/>
              <a:defRPr sz="1600">
                <a:solidFill>
                  <a:schemeClr val="lt1"/>
                </a:solidFill>
              </a:defRPr>
            </a:lvl5pPr>
            <a:lvl6pPr marL="2743200" lvl="5" indent="-228600" algn="l">
              <a:lnSpc>
                <a:spcPct val="90000"/>
              </a:lnSpc>
              <a:spcBef>
                <a:spcPts val="500"/>
              </a:spcBef>
              <a:spcAft>
                <a:spcPts val="0"/>
              </a:spcAft>
              <a:buClr>
                <a:schemeClr val="lt1"/>
              </a:buClr>
              <a:buSzPts val="1600"/>
              <a:buNone/>
              <a:defRPr sz="1600">
                <a:solidFill>
                  <a:schemeClr val="lt1"/>
                </a:solidFill>
              </a:defRPr>
            </a:lvl6pPr>
            <a:lvl7pPr marL="3200400" lvl="6" indent="-228600" algn="l">
              <a:lnSpc>
                <a:spcPct val="90000"/>
              </a:lnSpc>
              <a:spcBef>
                <a:spcPts val="500"/>
              </a:spcBef>
              <a:spcAft>
                <a:spcPts val="0"/>
              </a:spcAft>
              <a:buClr>
                <a:schemeClr val="lt1"/>
              </a:buClr>
              <a:buSzPts val="1600"/>
              <a:buNone/>
              <a:defRPr sz="1600">
                <a:solidFill>
                  <a:schemeClr val="lt1"/>
                </a:solidFill>
              </a:defRPr>
            </a:lvl7pPr>
            <a:lvl8pPr marL="3657600" lvl="7" indent="-228600" algn="l">
              <a:lnSpc>
                <a:spcPct val="90000"/>
              </a:lnSpc>
              <a:spcBef>
                <a:spcPts val="500"/>
              </a:spcBef>
              <a:spcAft>
                <a:spcPts val="0"/>
              </a:spcAft>
              <a:buClr>
                <a:schemeClr val="lt1"/>
              </a:buClr>
              <a:buSzPts val="1600"/>
              <a:buNone/>
              <a:defRPr sz="1600">
                <a:solidFill>
                  <a:schemeClr val="lt1"/>
                </a:solidFill>
              </a:defRPr>
            </a:lvl8pPr>
            <a:lvl9pPr marL="4114800" lvl="8" indent="-228600" algn="l">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29" name="Google Shape;29;p18"/>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8"/>
          <p:cNvSpPr txBox="1">
            <a:spLocks noGrp="1"/>
          </p:cNvSpPr>
          <p:nvPr>
            <p:ph type="ftr" idx="11"/>
          </p:nvPr>
        </p:nvSpPr>
        <p:spPr>
          <a:xfrm>
            <a:off x="685800" y="381001"/>
            <a:ext cx="6991492" cy="36406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1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body" idx="1"/>
          </p:nvPr>
        </p:nvSpPr>
        <p:spPr>
          <a:xfrm>
            <a:off x="6858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 name="Google Shape;35;p19"/>
          <p:cNvSpPr txBox="1">
            <a:spLocks noGrp="1"/>
          </p:cNvSpPr>
          <p:nvPr>
            <p:ph type="body" idx="2"/>
          </p:nvPr>
        </p:nvSpPr>
        <p:spPr>
          <a:xfrm>
            <a:off x="61722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6" name="Google Shape;36;p1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20"/>
          <p:cNvSpPr txBox="1">
            <a:spLocks noGrp="1"/>
          </p:cNvSpPr>
          <p:nvPr>
            <p:ph type="title"/>
          </p:nvPr>
        </p:nvSpPr>
        <p:spPr>
          <a:xfrm>
            <a:off x="2895600" y="762000"/>
            <a:ext cx="8610600"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0"/>
          <p:cNvSpPr txBox="1">
            <a:spLocks noGrp="1"/>
          </p:cNvSpPr>
          <p:nvPr>
            <p:ph type="body" idx="1"/>
          </p:nvPr>
        </p:nvSpPr>
        <p:spPr>
          <a:xfrm>
            <a:off x="914409" y="2183802"/>
            <a:ext cx="50799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2" name="Google Shape;42;p20"/>
          <p:cNvSpPr txBox="1">
            <a:spLocks noGrp="1"/>
          </p:cNvSpPr>
          <p:nvPr>
            <p:ph type="body" idx="2"/>
          </p:nvPr>
        </p:nvSpPr>
        <p:spPr>
          <a:xfrm>
            <a:off x="685800" y="3132666"/>
            <a:ext cx="5311775"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3" name="Google Shape;43;p20"/>
          <p:cNvSpPr txBox="1">
            <a:spLocks noGrp="1"/>
          </p:cNvSpPr>
          <p:nvPr>
            <p:ph type="body" idx="3"/>
          </p:nvPr>
        </p:nvSpPr>
        <p:spPr>
          <a:xfrm>
            <a:off x="6400800" y="2183802"/>
            <a:ext cx="51054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4" name="Google Shape;44;p20"/>
          <p:cNvSpPr txBox="1">
            <a:spLocks noGrp="1"/>
          </p:cNvSpPr>
          <p:nvPr>
            <p:ph type="body" idx="4"/>
          </p:nvPr>
        </p:nvSpPr>
        <p:spPr>
          <a:xfrm>
            <a:off x="6172200" y="3132666"/>
            <a:ext cx="5334000"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5" name="Google Shape;45;p2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2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22"/>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2"/>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23"/>
          <p:cNvSpPr txBox="1">
            <a:spLocks noGrp="1"/>
          </p:cNvSpPr>
          <p:nvPr>
            <p:ph type="title"/>
          </p:nvPr>
        </p:nvSpPr>
        <p:spPr>
          <a:xfrm>
            <a:off x="685800" y="1524000"/>
            <a:ext cx="41148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body" idx="1"/>
          </p:nvPr>
        </p:nvSpPr>
        <p:spPr>
          <a:xfrm>
            <a:off x="4995582" y="746759"/>
            <a:ext cx="6510618" cy="5471925"/>
          </a:xfrm>
          <a:prstGeom prst="rect">
            <a:avLst/>
          </a:prstGeom>
          <a:noFill/>
          <a:ln>
            <a:noFill/>
          </a:ln>
        </p:spPr>
        <p:txBody>
          <a:bodyPr spcFirstLastPara="1" wrap="square" lIns="91425" tIns="45700" rIns="91425" bIns="45700" anchor="ctr"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0" name="Google Shape;60;p23"/>
          <p:cNvSpPr txBox="1">
            <a:spLocks noGrp="1"/>
          </p:cNvSpPr>
          <p:nvPr>
            <p:ph type="body" idx="2"/>
          </p:nvPr>
        </p:nvSpPr>
        <p:spPr>
          <a:xfrm>
            <a:off x="685800" y="3124199"/>
            <a:ext cx="411480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1" name="Google Shape;61;p23"/>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3"/>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24"/>
          <p:cNvSpPr txBox="1">
            <a:spLocks noGrp="1"/>
          </p:cNvSpPr>
          <p:nvPr>
            <p:ph type="title"/>
          </p:nvPr>
        </p:nvSpPr>
        <p:spPr>
          <a:xfrm>
            <a:off x="685800" y="1524000"/>
            <a:ext cx="687324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a:spLocks noGrp="1"/>
          </p:cNvSpPr>
          <p:nvPr>
            <p:ph type="pic" idx="2"/>
          </p:nvPr>
        </p:nvSpPr>
        <p:spPr>
          <a:xfrm>
            <a:off x="7861238" y="751241"/>
            <a:ext cx="3644962" cy="5467443"/>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67" name="Google Shape;67;p24"/>
          <p:cNvSpPr txBox="1">
            <a:spLocks noGrp="1"/>
          </p:cNvSpPr>
          <p:nvPr>
            <p:ph type="body" idx="1"/>
          </p:nvPr>
        </p:nvSpPr>
        <p:spPr>
          <a:xfrm>
            <a:off x="685800" y="3124199"/>
            <a:ext cx="687324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8" name="Google Shape;68;p24"/>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4"/>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1"/>
        <p:cNvGrpSpPr/>
        <p:nvPr/>
      </p:nvGrpSpPr>
      <p:grpSpPr>
        <a:xfrm>
          <a:off x="0" y="0"/>
          <a:ext cx="0" cy="0"/>
          <a:chOff x="0" y="0"/>
          <a:chExt cx="0" cy="0"/>
        </a:xfrm>
      </p:grpSpPr>
      <p:sp>
        <p:nvSpPr>
          <p:cNvPr id="72" name="Google Shape;72;p25"/>
          <p:cNvSpPr txBox="1">
            <a:spLocks noGrp="1"/>
          </p:cNvSpPr>
          <p:nvPr>
            <p:ph type="title"/>
          </p:nvPr>
        </p:nvSpPr>
        <p:spPr>
          <a:xfrm>
            <a:off x="685777" y="4697360"/>
            <a:ext cx="10822034" cy="8193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a:spLocks noGrp="1"/>
          </p:cNvSpPr>
          <p:nvPr>
            <p:ph type="pic" idx="2"/>
          </p:nvPr>
        </p:nvSpPr>
        <p:spPr>
          <a:xfrm>
            <a:off x="681727" y="941439"/>
            <a:ext cx="10821840" cy="3478161"/>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74" name="Google Shape;74;p25"/>
          <p:cNvSpPr txBox="1">
            <a:spLocks noGrp="1"/>
          </p:cNvSpPr>
          <p:nvPr>
            <p:ph type="body" idx="1"/>
          </p:nvPr>
        </p:nvSpPr>
        <p:spPr>
          <a:xfrm>
            <a:off x="685800" y="5516715"/>
            <a:ext cx="10820400" cy="70196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75" name="Google Shape;75;p2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Shape 78"/>
        <p:cNvGrpSpPr/>
        <p:nvPr/>
      </p:nvGrpSpPr>
      <p:grpSpPr>
        <a:xfrm>
          <a:off x="0" y="0"/>
          <a:ext cx="0" cy="0"/>
          <a:chOff x="0" y="0"/>
          <a:chExt cx="0" cy="0"/>
        </a:xfrm>
      </p:grpSpPr>
      <p:pic>
        <p:nvPicPr>
          <p:cNvPr id="79" name="Google Shape;79;p2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0" name="Google Shape;80;p26"/>
          <p:cNvSpPr txBox="1">
            <a:spLocks noGrp="1"/>
          </p:cNvSpPr>
          <p:nvPr>
            <p:ph type="title"/>
          </p:nvPr>
        </p:nvSpPr>
        <p:spPr>
          <a:xfrm>
            <a:off x="685800" y="753532"/>
            <a:ext cx="10820400" cy="280246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6"/>
          <p:cNvSpPr txBox="1">
            <a:spLocks noGrp="1"/>
          </p:cNvSpPr>
          <p:nvPr>
            <p:ph type="body" idx="1"/>
          </p:nvPr>
        </p:nvSpPr>
        <p:spPr>
          <a:xfrm>
            <a:off x="1024467" y="3649133"/>
            <a:ext cx="10130516" cy="99906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2" name="Google Shape;82;p26"/>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6"/>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6"/>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Shape 85"/>
        <p:cNvGrpSpPr/>
        <p:nvPr/>
      </p:nvGrpSpPr>
      <p:grpSpPr>
        <a:xfrm>
          <a:off x="0" y="0"/>
          <a:ext cx="0" cy="0"/>
          <a:chOff x="0" y="0"/>
          <a:chExt cx="0" cy="0"/>
        </a:xfrm>
      </p:grpSpPr>
      <p:pic>
        <p:nvPicPr>
          <p:cNvPr id="86" name="Google Shape;86;p27"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7" name="Google Shape;87;p27"/>
          <p:cNvSpPr txBox="1">
            <a:spLocks noGrp="1"/>
          </p:cNvSpPr>
          <p:nvPr>
            <p:ph type="title"/>
          </p:nvPr>
        </p:nvSpPr>
        <p:spPr>
          <a:xfrm>
            <a:off x="1024467" y="753533"/>
            <a:ext cx="10151533" cy="26044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7"/>
          <p:cNvSpPr txBox="1">
            <a:spLocks noGrp="1"/>
          </p:cNvSpPr>
          <p:nvPr>
            <p:ph type="body" idx="1"/>
          </p:nvPr>
        </p:nvSpPr>
        <p:spPr>
          <a:xfrm>
            <a:off x="1303865" y="3365556"/>
            <a:ext cx="9592736" cy="44444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9" name="Google Shape;89;p27"/>
          <p:cNvSpPr txBox="1">
            <a:spLocks noGrp="1"/>
          </p:cNvSpPr>
          <p:nvPr>
            <p:ph type="body" idx="2"/>
          </p:nvPr>
        </p:nvSpPr>
        <p:spPr>
          <a:xfrm>
            <a:off x="1024467" y="3959862"/>
            <a:ext cx="10151533" cy="679871"/>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0" name="Google Shape;90;p27"/>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7"/>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7"/>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
        <p:nvSpPr>
          <p:cNvPr id="93" name="Google Shape;93;p27"/>
          <p:cNvSpPr txBox="1"/>
          <p:nvPr/>
        </p:nvSpPr>
        <p:spPr>
          <a:xfrm>
            <a:off x="476250" y="933450"/>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
        <p:nvSpPr>
          <p:cNvPr id="94" name="Google Shape;94;p27"/>
          <p:cNvSpPr txBox="1"/>
          <p:nvPr/>
        </p:nvSpPr>
        <p:spPr>
          <a:xfrm>
            <a:off x="10984230" y="2701290"/>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Shape 95"/>
        <p:cNvGrpSpPr/>
        <p:nvPr/>
      </p:nvGrpSpPr>
      <p:grpSpPr>
        <a:xfrm>
          <a:off x="0" y="0"/>
          <a:ext cx="0" cy="0"/>
          <a:chOff x="0" y="0"/>
          <a:chExt cx="0" cy="0"/>
        </a:xfrm>
      </p:grpSpPr>
      <p:pic>
        <p:nvPicPr>
          <p:cNvPr id="96" name="Google Shape;96;p2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97" name="Google Shape;97;p28"/>
          <p:cNvSpPr txBox="1">
            <a:spLocks noGrp="1"/>
          </p:cNvSpPr>
          <p:nvPr>
            <p:ph type="title"/>
          </p:nvPr>
        </p:nvSpPr>
        <p:spPr>
          <a:xfrm>
            <a:off x="1024495" y="1124701"/>
            <a:ext cx="10146186" cy="251183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8"/>
          <p:cNvSpPr txBox="1">
            <a:spLocks noGrp="1"/>
          </p:cNvSpPr>
          <p:nvPr>
            <p:ph type="body" idx="1"/>
          </p:nvPr>
        </p:nvSpPr>
        <p:spPr>
          <a:xfrm>
            <a:off x="1024467" y="3648315"/>
            <a:ext cx="10144654" cy="9998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9" name="Google Shape;99;p28"/>
          <p:cNvSpPr txBox="1">
            <a:spLocks noGrp="1"/>
          </p:cNvSpPr>
          <p:nvPr>
            <p:ph type="dt" idx="10"/>
          </p:nvPr>
        </p:nvSpPr>
        <p:spPr>
          <a:xfrm>
            <a:off x="7814452" y="378883"/>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8"/>
          <p:cNvSpPr txBox="1">
            <a:spLocks noGrp="1"/>
          </p:cNvSpPr>
          <p:nvPr>
            <p:ph type="ftr" idx="11"/>
          </p:nvPr>
        </p:nvSpPr>
        <p:spPr>
          <a:xfrm>
            <a:off x="685800" y="378883"/>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2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02"/>
        <p:cNvGrpSpPr/>
        <p:nvPr/>
      </p:nvGrpSpPr>
      <p:grpSpPr>
        <a:xfrm>
          <a:off x="0" y="0"/>
          <a:ext cx="0" cy="0"/>
          <a:chOff x="0" y="0"/>
          <a:chExt cx="0" cy="0"/>
        </a:xfrm>
      </p:grpSpPr>
      <p:sp>
        <p:nvSpPr>
          <p:cNvPr id="103" name="Google Shape;103;p29"/>
          <p:cNvSpPr txBox="1">
            <a:spLocks noGrp="1"/>
          </p:cNvSpPr>
          <p:nvPr>
            <p:ph type="title"/>
          </p:nvPr>
        </p:nvSpPr>
        <p:spPr>
          <a:xfrm>
            <a:off x="2895600" y="761999"/>
            <a:ext cx="8610599" cy="1303867"/>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9"/>
          <p:cNvSpPr txBox="1">
            <a:spLocks noGrp="1"/>
          </p:cNvSpPr>
          <p:nvPr>
            <p:ph type="body" idx="1"/>
          </p:nvPr>
        </p:nvSpPr>
        <p:spPr>
          <a:xfrm>
            <a:off x="685800" y="2202080"/>
            <a:ext cx="3456432" cy="61732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5" name="Google Shape;105;p29"/>
          <p:cNvSpPr txBox="1">
            <a:spLocks noGrp="1"/>
          </p:cNvSpPr>
          <p:nvPr>
            <p:ph type="body" idx="2"/>
          </p:nvPr>
        </p:nvSpPr>
        <p:spPr>
          <a:xfrm>
            <a:off x="685799"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6" name="Google Shape;106;p29"/>
          <p:cNvSpPr txBox="1">
            <a:spLocks noGrp="1"/>
          </p:cNvSpPr>
          <p:nvPr>
            <p:ph type="body" idx="3"/>
          </p:nvPr>
        </p:nvSpPr>
        <p:spPr>
          <a:xfrm>
            <a:off x="4368800" y="2201333"/>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7" name="Google Shape;107;p29"/>
          <p:cNvSpPr txBox="1">
            <a:spLocks noGrp="1"/>
          </p:cNvSpPr>
          <p:nvPr>
            <p:ph type="body" idx="4"/>
          </p:nvPr>
        </p:nvSpPr>
        <p:spPr>
          <a:xfrm>
            <a:off x="4366858" y="2904067"/>
            <a:ext cx="3456432" cy="331461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8" name="Google Shape;108;p29"/>
          <p:cNvSpPr txBox="1">
            <a:spLocks noGrp="1"/>
          </p:cNvSpPr>
          <p:nvPr>
            <p:ph type="body" idx="5"/>
          </p:nvPr>
        </p:nvSpPr>
        <p:spPr>
          <a:xfrm>
            <a:off x="8051800" y="2192866"/>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9" name="Google Shape;109;p29"/>
          <p:cNvSpPr txBox="1">
            <a:spLocks noGrp="1"/>
          </p:cNvSpPr>
          <p:nvPr>
            <p:ph type="body" idx="6"/>
          </p:nvPr>
        </p:nvSpPr>
        <p:spPr>
          <a:xfrm>
            <a:off x="8051801"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0" name="Google Shape;110;p2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2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13"/>
        <p:cNvGrpSpPr/>
        <p:nvPr/>
      </p:nvGrpSpPr>
      <p:grpSpPr>
        <a:xfrm>
          <a:off x="0" y="0"/>
          <a:ext cx="0" cy="0"/>
          <a:chOff x="0" y="0"/>
          <a:chExt cx="0" cy="0"/>
        </a:xfrm>
      </p:grpSpPr>
      <p:sp>
        <p:nvSpPr>
          <p:cNvPr id="114" name="Google Shape;114;p30"/>
          <p:cNvSpPr txBox="1">
            <a:spLocks noGrp="1"/>
          </p:cNvSpPr>
          <p:nvPr>
            <p:ph type="title"/>
          </p:nvPr>
        </p:nvSpPr>
        <p:spPr>
          <a:xfrm>
            <a:off x="2895600" y="762000"/>
            <a:ext cx="8610599"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30"/>
          <p:cNvSpPr txBox="1">
            <a:spLocks noGrp="1"/>
          </p:cNvSpPr>
          <p:nvPr>
            <p:ph type="body" idx="1"/>
          </p:nvPr>
        </p:nvSpPr>
        <p:spPr>
          <a:xfrm>
            <a:off x="688618" y="4191000"/>
            <a:ext cx="3451582"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6" name="Google Shape;116;p30"/>
          <p:cNvSpPr>
            <a:spLocks noGrp="1"/>
          </p:cNvSpPr>
          <p:nvPr>
            <p:ph type="pic" idx="2"/>
          </p:nvPr>
        </p:nvSpPr>
        <p:spPr>
          <a:xfrm>
            <a:off x="688618" y="2362200"/>
            <a:ext cx="3451582"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17" name="Google Shape;117;p30"/>
          <p:cNvSpPr txBox="1">
            <a:spLocks noGrp="1"/>
          </p:cNvSpPr>
          <p:nvPr>
            <p:ph type="body" idx="3"/>
          </p:nvPr>
        </p:nvSpPr>
        <p:spPr>
          <a:xfrm>
            <a:off x="688618" y="4873764"/>
            <a:ext cx="3451582"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8" name="Google Shape;118;p30"/>
          <p:cNvSpPr txBox="1">
            <a:spLocks noGrp="1"/>
          </p:cNvSpPr>
          <p:nvPr>
            <p:ph type="body" idx="4"/>
          </p:nvPr>
        </p:nvSpPr>
        <p:spPr>
          <a:xfrm>
            <a:off x="4374263" y="4191000"/>
            <a:ext cx="3448935"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9" name="Google Shape;119;p30"/>
          <p:cNvSpPr>
            <a:spLocks noGrp="1"/>
          </p:cNvSpPr>
          <p:nvPr>
            <p:ph type="pic" idx="5"/>
          </p:nvPr>
        </p:nvSpPr>
        <p:spPr>
          <a:xfrm>
            <a:off x="4374263" y="2362200"/>
            <a:ext cx="3448936"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0" name="Google Shape;120;p30"/>
          <p:cNvSpPr txBox="1">
            <a:spLocks noGrp="1"/>
          </p:cNvSpPr>
          <p:nvPr>
            <p:ph type="body" idx="6"/>
          </p:nvPr>
        </p:nvSpPr>
        <p:spPr>
          <a:xfrm>
            <a:off x="4374264" y="4873763"/>
            <a:ext cx="344893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1" name="Google Shape;121;p30"/>
          <p:cNvSpPr txBox="1">
            <a:spLocks noGrp="1"/>
          </p:cNvSpPr>
          <p:nvPr>
            <p:ph type="body" idx="7"/>
          </p:nvPr>
        </p:nvSpPr>
        <p:spPr>
          <a:xfrm>
            <a:off x="8049731" y="4191000"/>
            <a:ext cx="3456469"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2" name="Google Shape;122;p30"/>
          <p:cNvSpPr>
            <a:spLocks noGrp="1"/>
          </p:cNvSpPr>
          <p:nvPr>
            <p:ph type="pic" idx="8"/>
          </p:nvPr>
        </p:nvSpPr>
        <p:spPr>
          <a:xfrm>
            <a:off x="8049855" y="2362200"/>
            <a:ext cx="3447878"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3" name="Google Shape;123;p30"/>
          <p:cNvSpPr txBox="1">
            <a:spLocks noGrp="1"/>
          </p:cNvSpPr>
          <p:nvPr>
            <p:ph type="body" idx="9"/>
          </p:nvPr>
        </p:nvSpPr>
        <p:spPr>
          <a:xfrm>
            <a:off x="8049731" y="4873761"/>
            <a:ext cx="345244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4" name="Google Shape;124;p3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3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3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3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31"/>
          <p:cNvSpPr txBox="1">
            <a:spLocks noGrp="1"/>
          </p:cNvSpPr>
          <p:nvPr>
            <p:ph type="body" idx="1"/>
          </p:nvPr>
        </p:nvSpPr>
        <p:spPr>
          <a:xfrm rot="5400000">
            <a:off x="4083937" y="-1203579"/>
            <a:ext cx="4024125" cy="10820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0" name="Google Shape;130;p3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3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3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33"/>
        <p:cNvGrpSpPr/>
        <p:nvPr/>
      </p:nvGrpSpPr>
      <p:grpSpPr>
        <a:xfrm>
          <a:off x="0" y="0"/>
          <a:ext cx="0" cy="0"/>
          <a:chOff x="0" y="0"/>
          <a:chExt cx="0" cy="0"/>
        </a:xfrm>
      </p:grpSpPr>
      <p:pic>
        <p:nvPicPr>
          <p:cNvPr id="134" name="Google Shape;134;p32"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35" name="Google Shape;135;p32"/>
          <p:cNvSpPr txBox="1">
            <a:spLocks noGrp="1"/>
          </p:cNvSpPr>
          <p:nvPr>
            <p:ph type="title"/>
          </p:nvPr>
        </p:nvSpPr>
        <p:spPr>
          <a:xfrm rot="5400000">
            <a:off x="8525933" y="1667933"/>
            <a:ext cx="3903133" cy="2057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32"/>
          <p:cNvSpPr txBox="1">
            <a:spLocks noGrp="1"/>
          </p:cNvSpPr>
          <p:nvPr>
            <p:ph type="body" idx="1"/>
          </p:nvPr>
        </p:nvSpPr>
        <p:spPr>
          <a:xfrm rot="5400000">
            <a:off x="3175000" y="-1405467"/>
            <a:ext cx="3903133" cy="82042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7" name="Google Shape;137;p32"/>
          <p:cNvSpPr txBox="1">
            <a:spLocks noGrp="1"/>
          </p:cNvSpPr>
          <p:nvPr>
            <p:ph type="dt" idx="10"/>
          </p:nvPr>
        </p:nvSpPr>
        <p:spPr>
          <a:xfrm>
            <a:off x="7814452" y="379941"/>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32"/>
          <p:cNvSpPr txBox="1">
            <a:spLocks noGrp="1"/>
          </p:cNvSpPr>
          <p:nvPr>
            <p:ph type="ftr" idx="11"/>
          </p:nvPr>
        </p:nvSpPr>
        <p:spPr>
          <a:xfrm>
            <a:off x="685800" y="381000"/>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32"/>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pic>
        <p:nvPicPr>
          <p:cNvPr id="6" name="Google Shape;6;p15" descr="C0-HD-TOP.png"/>
          <p:cNvPicPr preferRelativeResize="0"/>
          <p:nvPr/>
        </p:nvPicPr>
        <p:blipFill rotWithShape="1">
          <a:blip r:embed="rId19">
            <a:alphaModFix/>
          </a:blip>
          <a:srcRect/>
          <a:stretch/>
        </p:blipFill>
        <p:spPr>
          <a:xfrm>
            <a:off x="0" y="0"/>
            <a:ext cx="12192000" cy="1441450"/>
          </a:xfrm>
          <a:prstGeom prst="rect">
            <a:avLst/>
          </a:prstGeom>
          <a:noFill/>
          <a:ln>
            <a:noFill/>
          </a:ln>
        </p:spPr>
      </p:pic>
      <p:sp>
        <p:nvSpPr>
          <p:cNvPr id="7" name="Google Shape;7;p1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marR="0" lvl="0" algn="r" rtl="0">
              <a:lnSpc>
                <a:spcPct val="90000"/>
              </a:lnSpc>
              <a:spcBef>
                <a:spcPts val="0"/>
              </a:spcBef>
              <a:spcAft>
                <a:spcPts val="0"/>
              </a:spcAft>
              <a:buClr>
                <a:schemeClr val="lt1"/>
              </a:buClr>
              <a:buSzPts val="4000"/>
              <a:buFont typeface="Century Gothic"/>
              <a:buNone/>
              <a:defRPr sz="40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90000"/>
              </a:lnSpc>
              <a:spcBef>
                <a:spcPts val="1000"/>
              </a:spcBef>
              <a:spcAft>
                <a:spcPts val="0"/>
              </a:spcAft>
              <a:buClr>
                <a:schemeClr val="lt1"/>
              </a:buClr>
              <a:buSzPts val="22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9" name="Google Shape;9;p1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0" name="Google Shape;10;p1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1" name="Google Shape;11;p1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0.xml"/><Relationship Id="rId5" Type="http://schemas.openxmlformats.org/officeDocument/2006/relationships/image" Target="../media/image3.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
          <p:cNvSpPr txBox="1">
            <a:spLocks noGrp="1"/>
          </p:cNvSpPr>
          <p:nvPr>
            <p:ph type="ctrTitle"/>
          </p:nvPr>
        </p:nvSpPr>
        <p:spPr>
          <a:xfrm>
            <a:off x="1371600" y="1790153"/>
            <a:ext cx="9448800" cy="182509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Century Gothic"/>
              <a:buNone/>
            </a:pPr>
            <a:r>
              <a:rPr lang="en-US"/>
              <a:t>Green Pace</a:t>
            </a:r>
            <a:endParaRPr/>
          </a:p>
        </p:txBody>
      </p:sp>
      <p:sp>
        <p:nvSpPr>
          <p:cNvPr id="145" name="Google Shape;145;p1"/>
          <p:cNvSpPr txBox="1">
            <a:spLocks noGrp="1"/>
          </p:cNvSpPr>
          <p:nvPr>
            <p:ph type="subTitle" idx="1"/>
          </p:nvPr>
        </p:nvSpPr>
        <p:spPr>
          <a:xfrm>
            <a:off x="1371600" y="3632200"/>
            <a:ext cx="9448800" cy="1561592"/>
          </a:xfrm>
          <a:prstGeom prst="rect">
            <a:avLst/>
          </a:prstGeom>
          <a:noFill/>
          <a:ln>
            <a:noFill/>
          </a:ln>
        </p:spPr>
        <p:txBody>
          <a:bodyPr spcFirstLastPara="1" wrap="square" lIns="91425" tIns="45700" rIns="91425" bIns="45700" anchor="t" anchorCtr="0">
            <a:normAutofit/>
          </a:bodyPr>
          <a:lstStyle/>
          <a:p>
            <a:pPr marL="0" lvl="0" indent="0" algn="l" rtl="0">
              <a:lnSpc>
                <a:spcPct val="70000"/>
              </a:lnSpc>
              <a:spcBef>
                <a:spcPts val="0"/>
              </a:spcBef>
              <a:spcAft>
                <a:spcPts val="0"/>
              </a:spcAft>
              <a:buClr>
                <a:schemeClr val="lt1"/>
              </a:buClr>
              <a:buSzPts val="1850"/>
              <a:buNone/>
            </a:pPr>
            <a:r>
              <a:rPr lang="en-US" sz="1850" dirty="0"/>
              <a:t>Security Policy Presentation</a:t>
            </a:r>
            <a:endParaRPr dirty="0"/>
          </a:p>
          <a:p>
            <a:pPr marL="0" lvl="0" indent="0" algn="l" rtl="0">
              <a:lnSpc>
                <a:spcPct val="70000"/>
              </a:lnSpc>
              <a:spcBef>
                <a:spcPts val="1000"/>
              </a:spcBef>
              <a:spcAft>
                <a:spcPts val="0"/>
              </a:spcAft>
              <a:buClr>
                <a:schemeClr val="lt1"/>
              </a:buClr>
              <a:buSzPts val="1850"/>
              <a:buNone/>
            </a:pPr>
            <a:r>
              <a:rPr lang="en-US" sz="1850" dirty="0"/>
              <a:t>CS 405 Project Tew</a:t>
            </a:r>
          </a:p>
          <a:p>
            <a:pPr marL="0" lvl="0" indent="0" algn="l" rtl="0">
              <a:lnSpc>
                <a:spcPct val="70000"/>
              </a:lnSpc>
              <a:spcBef>
                <a:spcPts val="1000"/>
              </a:spcBef>
              <a:spcAft>
                <a:spcPts val="0"/>
              </a:spcAft>
              <a:buClr>
                <a:schemeClr val="lt1"/>
              </a:buClr>
              <a:buSzPts val="1850"/>
              <a:buNone/>
            </a:pPr>
            <a:r>
              <a:rPr lang="en-US" sz="1850" dirty="0"/>
              <a:t>Developer: </a:t>
            </a:r>
            <a:r>
              <a:rPr lang="en-US" sz="1850" i="1" dirty="0"/>
              <a:t>Christopher Plympton</a:t>
            </a:r>
            <a:endParaRPr dirty="0"/>
          </a:p>
          <a:p>
            <a:pPr marL="0" lvl="0" indent="0" algn="l" rtl="0">
              <a:lnSpc>
                <a:spcPct val="70000"/>
              </a:lnSpc>
              <a:spcBef>
                <a:spcPts val="1000"/>
              </a:spcBef>
              <a:spcAft>
                <a:spcPts val="0"/>
              </a:spcAft>
              <a:buClr>
                <a:schemeClr val="lt1"/>
              </a:buClr>
              <a:buSzPts val="1850"/>
              <a:buNone/>
            </a:pPr>
            <a:endParaRPr sz="1850" i="1" dirty="0"/>
          </a:p>
          <a:p>
            <a:pPr marL="0" lvl="0" indent="0" algn="l" rtl="0">
              <a:lnSpc>
                <a:spcPct val="70000"/>
              </a:lnSpc>
              <a:spcBef>
                <a:spcPts val="1000"/>
              </a:spcBef>
              <a:spcAft>
                <a:spcPts val="0"/>
              </a:spcAft>
              <a:buSzPts val="1850"/>
              <a:buNone/>
            </a:pPr>
            <a:endParaRPr i="1" dirty="0"/>
          </a:p>
        </p:txBody>
      </p:sp>
      <p:pic>
        <p:nvPicPr>
          <p:cNvPr id="146" name="Google Shape;146;p1" descr="Green Pace logo"/>
          <p:cNvPicPr preferRelativeResize="0"/>
          <p:nvPr/>
        </p:nvPicPr>
        <p:blipFill>
          <a:blip r:embed="rId4">
            <a:alphaModFix/>
          </a:blip>
          <a:stretch>
            <a:fillRect/>
          </a:stretch>
        </p:blipFill>
        <p:spPr>
          <a:xfrm>
            <a:off x="7440774" y="659854"/>
            <a:ext cx="2921424" cy="3786772"/>
          </a:xfrm>
          <a:prstGeom prst="rect">
            <a:avLst/>
          </a:prstGeom>
          <a:noFill/>
          <a:ln>
            <a:noFill/>
          </a:ln>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OVERVIEW: DEFENSE IN DEPTH</a:t>
            </a:r>
            <a:endParaRPr/>
          </a:p>
        </p:txBody>
      </p:sp>
      <p:sp>
        <p:nvSpPr>
          <p:cNvPr id="152" name="Google Shape;152;p3"/>
          <p:cNvSpPr txBox="1">
            <a:spLocks noGrp="1"/>
          </p:cNvSpPr>
          <p:nvPr>
            <p:ph type="body" idx="1"/>
          </p:nvPr>
        </p:nvSpPr>
        <p:spPr>
          <a:xfrm>
            <a:off x="0" y="2194560"/>
            <a:ext cx="5779008" cy="4024125"/>
          </a:xfrm>
          <a:prstGeom prst="rect">
            <a:avLst/>
          </a:prstGeom>
          <a:noFill/>
          <a:ln>
            <a:noFill/>
          </a:ln>
        </p:spPr>
        <p:txBody>
          <a:bodyPr spcFirstLastPara="1" wrap="square" lIns="91425" tIns="45700" rIns="91425" bIns="45700" anchor="t" anchorCtr="0">
            <a:normAutofit/>
          </a:bodyPr>
          <a:lstStyle/>
          <a:p>
            <a:r>
              <a:rPr lang="en-US" dirty="0"/>
              <a:t>Multiple layers of security</a:t>
            </a:r>
          </a:p>
          <a:p>
            <a:r>
              <a:rPr lang="en-US" dirty="0"/>
              <a:t>Secure coding practices</a:t>
            </a:r>
          </a:p>
          <a:p>
            <a:r>
              <a:rPr lang="en-US" dirty="0"/>
              <a:t>Encryption and access control</a:t>
            </a:r>
          </a:p>
          <a:p>
            <a:r>
              <a:rPr lang="en-US" dirty="0"/>
              <a:t>Automated testing and monitoring</a:t>
            </a:r>
          </a:p>
          <a:p>
            <a:r>
              <a:rPr lang="en-US" dirty="0"/>
              <a:t>Continuous improvement</a:t>
            </a:r>
          </a:p>
          <a:p>
            <a:pPr marL="685800" lvl="0" indent="0" algn="l" rtl="0">
              <a:lnSpc>
                <a:spcPct val="90000"/>
              </a:lnSpc>
              <a:spcBef>
                <a:spcPts val="0"/>
              </a:spcBef>
              <a:spcAft>
                <a:spcPts val="0"/>
              </a:spcAft>
              <a:buSzPts val="1800"/>
              <a:buNone/>
            </a:pPr>
            <a:endParaRPr dirty="0"/>
          </a:p>
        </p:txBody>
      </p:sp>
      <p:pic>
        <p:nvPicPr>
          <p:cNvPr id="153" name="Google Shape;153;p3"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p:cNvPicPr preferRelativeResize="0"/>
          <p:nvPr/>
        </p:nvPicPr>
        <p:blipFill rotWithShape="1">
          <a:blip r:embed="rId4">
            <a:alphaModFix/>
          </a:blip>
          <a:srcRect/>
          <a:stretch/>
        </p:blipFill>
        <p:spPr>
          <a:xfrm>
            <a:off x="5517418" y="1731851"/>
            <a:ext cx="6453257" cy="3797196"/>
          </a:xfrm>
          <a:prstGeom prst="rect">
            <a:avLst/>
          </a:prstGeom>
          <a:noFill/>
          <a:ln>
            <a:noFill/>
          </a:ln>
        </p:spPr>
      </p:pic>
      <p:pic>
        <p:nvPicPr>
          <p:cNvPr id="154" name="Google Shape;154;p3"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THREATS MATRIX</a:t>
            </a:r>
            <a:endParaRPr/>
          </a:p>
        </p:txBody>
      </p:sp>
      <p:graphicFrame>
        <p:nvGraphicFramePr>
          <p:cNvPr id="161" name="Google Shape;161;p4" descr="Alt text required"/>
          <p:cNvGraphicFramePr/>
          <p:nvPr>
            <p:extLst>
              <p:ext uri="{D42A27DB-BD31-4B8C-83A1-F6EECF244321}">
                <p14:modId xmlns:p14="http://schemas.microsoft.com/office/powerpoint/2010/main" val="1855853687"/>
              </p:ext>
            </p:extLst>
          </p:nvPr>
        </p:nvGraphicFramePr>
        <p:xfrm>
          <a:off x="1865377" y="2331720"/>
          <a:ext cx="8610600" cy="3761907"/>
        </p:xfrm>
        <a:graphic>
          <a:graphicData uri="http://schemas.openxmlformats.org/drawingml/2006/table">
            <a:tbl>
              <a:tblPr firstRow="1" firstCol="1">
                <a:noFill/>
                <a:tableStyleId>{802198C4-3087-4945-87E3-76CBB3509B7E}</a:tableStyleId>
              </a:tblPr>
              <a:tblGrid>
                <a:gridCol w="4422686">
                  <a:extLst>
                    <a:ext uri="{9D8B030D-6E8A-4147-A177-3AD203B41FA5}">
                      <a16:colId xmlns:a16="http://schemas.microsoft.com/office/drawing/2014/main" val="20000"/>
                    </a:ext>
                  </a:extLst>
                </a:gridCol>
                <a:gridCol w="4187914">
                  <a:extLst>
                    <a:ext uri="{9D8B030D-6E8A-4147-A177-3AD203B41FA5}">
                      <a16:colId xmlns:a16="http://schemas.microsoft.com/office/drawing/2014/main" val="20001"/>
                    </a:ext>
                  </a:extLst>
                </a:gridCol>
              </a:tblGrid>
              <a:tr h="1912029">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Likely</a:t>
                      </a:r>
                      <a:endParaRPr sz="1400" u="none" strike="noStrike" cap="none" dirty="0"/>
                    </a:p>
                    <a:p>
                      <a:r>
                        <a:rPr lang="en-US" sz="2400" dirty="0"/>
                        <a:t>High: SQL Injection, Buffer Overflow, Authentication Failures</a:t>
                      </a: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Priority</a:t>
                      </a:r>
                      <a:endParaRPr sz="1400" u="none" strike="noStrike" cap="none" dirty="0"/>
                    </a:p>
                    <a:p>
                      <a:r>
                        <a:rPr lang="en-US" sz="2400" dirty="0"/>
                        <a:t>Medium: Logging Errors, Information Disclosure</a:t>
                      </a: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1849878">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Low priority</a:t>
                      </a:r>
                      <a:endParaRPr sz="1400" u="none" strike="noStrike" cap="none" dirty="0"/>
                    </a:p>
                    <a:p>
                      <a:r>
                        <a:rPr lang="en-US" sz="2400" dirty="0"/>
                        <a:t>Misconfiguration</a:t>
                      </a: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Unlikely</a:t>
                      </a:r>
                      <a:endParaRPr sz="1400" u="none" strike="noStrike" cap="none" dirty="0"/>
                    </a:p>
                    <a:p>
                      <a:r>
                        <a:rPr lang="en-US" sz="2400" dirty="0"/>
                        <a:t>Prioritize by likelihood and impact</a:t>
                      </a: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1"/>
                  </a:ext>
                </a:extLst>
              </a:tr>
            </a:tbl>
          </a:graphicData>
        </a:graphic>
      </p:graphicFrame>
      <p:pic>
        <p:nvPicPr>
          <p:cNvPr id="162" name="Google Shape;162;p4"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10 PRINCIPLES</a:t>
            </a:r>
            <a:endParaRPr/>
          </a:p>
        </p:txBody>
      </p:sp>
      <p:sp>
        <p:nvSpPr>
          <p:cNvPr id="168" name="Google Shape;168;p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fontScale="92500" lnSpcReduction="10000"/>
          </a:bodyPr>
          <a:lstStyle/>
          <a:p>
            <a:r>
              <a:rPr lang="en-US" dirty="0"/>
              <a:t>Least Privilege</a:t>
            </a:r>
          </a:p>
          <a:p>
            <a:r>
              <a:rPr lang="en-US" dirty="0"/>
              <a:t>Defense in Depth</a:t>
            </a:r>
          </a:p>
          <a:p>
            <a:r>
              <a:rPr lang="en-US" dirty="0"/>
              <a:t>Fail Securely</a:t>
            </a:r>
          </a:p>
          <a:p>
            <a:r>
              <a:rPr lang="en-US" dirty="0"/>
              <a:t>Open Design</a:t>
            </a:r>
          </a:p>
          <a:p>
            <a:r>
              <a:rPr lang="en-US" dirty="0"/>
              <a:t>Separation of Duties</a:t>
            </a:r>
          </a:p>
          <a:p>
            <a:r>
              <a:rPr lang="en-US" dirty="0"/>
              <a:t>Secure by Default</a:t>
            </a:r>
          </a:p>
          <a:p>
            <a:r>
              <a:rPr lang="en-US" dirty="0"/>
              <a:t>Complete Mediation</a:t>
            </a:r>
          </a:p>
          <a:p>
            <a:r>
              <a:rPr lang="en-US" dirty="0"/>
              <a:t>Economy of Mechanism</a:t>
            </a:r>
          </a:p>
          <a:p>
            <a:r>
              <a:rPr lang="en-US" dirty="0"/>
              <a:t>Psychological Acceptability</a:t>
            </a:r>
          </a:p>
          <a:p>
            <a:r>
              <a:rPr lang="en-US" dirty="0"/>
              <a:t>Assume Vulnerability</a:t>
            </a:r>
          </a:p>
          <a:p>
            <a:pPr marL="0" lvl="0" indent="0" algn="l" rtl="0">
              <a:lnSpc>
                <a:spcPct val="90000"/>
              </a:lnSpc>
              <a:spcBef>
                <a:spcPts val="0"/>
              </a:spcBef>
              <a:spcAft>
                <a:spcPts val="0"/>
              </a:spcAft>
              <a:buClr>
                <a:schemeClr val="lt1"/>
              </a:buClr>
              <a:buSzPts val="2200"/>
              <a:buNone/>
            </a:pPr>
            <a:endParaRPr dirty="0"/>
          </a:p>
        </p:txBody>
      </p:sp>
      <p:pic>
        <p:nvPicPr>
          <p:cNvPr id="169" name="Google Shape;169;p5"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6"/>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CODING STANDARDS</a:t>
            </a:r>
            <a:endParaRPr/>
          </a:p>
        </p:txBody>
      </p:sp>
      <p:sp>
        <p:nvSpPr>
          <p:cNvPr id="175" name="Google Shape;175;p6"/>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fontScale="92500" lnSpcReduction="10000"/>
          </a:bodyPr>
          <a:lstStyle/>
          <a:p>
            <a:r>
              <a:rPr lang="en-US" dirty="0"/>
              <a:t>Input Validation</a:t>
            </a:r>
          </a:p>
          <a:p>
            <a:r>
              <a:rPr lang="en-US" dirty="0"/>
              <a:t>Authentication</a:t>
            </a:r>
          </a:p>
          <a:p>
            <a:r>
              <a:rPr lang="en-US" dirty="0"/>
              <a:t>Authorization</a:t>
            </a:r>
          </a:p>
          <a:p>
            <a:r>
              <a:rPr lang="en-US" dirty="0"/>
              <a:t>Encryption</a:t>
            </a:r>
          </a:p>
          <a:p>
            <a:r>
              <a:rPr lang="en-US" dirty="0"/>
              <a:t>Error Handling</a:t>
            </a:r>
          </a:p>
          <a:p>
            <a:r>
              <a:rPr lang="en-US" dirty="0"/>
              <a:t>Logging</a:t>
            </a:r>
          </a:p>
          <a:p>
            <a:r>
              <a:rPr lang="en-US" dirty="0"/>
              <a:t>Secure Configuration</a:t>
            </a:r>
          </a:p>
          <a:p>
            <a:r>
              <a:rPr lang="en-US" dirty="0"/>
              <a:t>Dependency Management</a:t>
            </a:r>
          </a:p>
          <a:p>
            <a:r>
              <a:rPr lang="en-US" dirty="0"/>
              <a:t>Code Review</a:t>
            </a:r>
          </a:p>
          <a:p>
            <a:r>
              <a:rPr lang="en-US" dirty="0"/>
              <a:t>Session Management</a:t>
            </a:r>
          </a:p>
          <a:p>
            <a:pPr marL="0" lvl="0" indent="0" algn="l" rtl="0">
              <a:lnSpc>
                <a:spcPct val="90000"/>
              </a:lnSpc>
              <a:spcBef>
                <a:spcPts val="0"/>
              </a:spcBef>
              <a:spcAft>
                <a:spcPts val="0"/>
              </a:spcAft>
              <a:buClr>
                <a:schemeClr val="lt1"/>
              </a:buClr>
              <a:buSzPts val="2000"/>
              <a:buNone/>
            </a:pPr>
            <a:endParaRPr dirty="0"/>
          </a:p>
        </p:txBody>
      </p:sp>
      <p:pic>
        <p:nvPicPr>
          <p:cNvPr id="176" name="Google Shape;176;p6"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ENCRYPTION POLICIES</a:t>
            </a:r>
            <a:endParaRPr/>
          </a:p>
        </p:txBody>
      </p:sp>
      <p:sp>
        <p:nvSpPr>
          <p:cNvPr id="182" name="Google Shape;182;p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r>
              <a:rPr lang="en-US" sz="2000" dirty="0"/>
              <a:t>In Transit: TLS/HTTPS</a:t>
            </a:r>
          </a:p>
          <a:p>
            <a:r>
              <a:rPr lang="en-US" sz="2000" dirty="0"/>
              <a:t>At Rest: AES-256</a:t>
            </a:r>
          </a:p>
          <a:p>
            <a:r>
              <a:rPr lang="en-US" sz="2000" dirty="0"/>
              <a:t>In Use: Access Controls and Memory Protection</a:t>
            </a:r>
          </a:p>
          <a:p>
            <a:pPr marL="0" lvl="0" indent="0" algn="l" rtl="0">
              <a:lnSpc>
                <a:spcPct val="90000"/>
              </a:lnSpc>
              <a:spcBef>
                <a:spcPts val="1000"/>
              </a:spcBef>
              <a:spcAft>
                <a:spcPts val="0"/>
              </a:spcAft>
              <a:buClr>
                <a:schemeClr val="lt1"/>
              </a:buClr>
              <a:buSzPts val="1600"/>
              <a:buNone/>
            </a:pPr>
            <a:endParaRPr sz="1600" dirty="0"/>
          </a:p>
          <a:p>
            <a:pPr marL="228600" lvl="0" indent="-88900" algn="l" rtl="0">
              <a:lnSpc>
                <a:spcPct val="90000"/>
              </a:lnSpc>
              <a:spcBef>
                <a:spcPts val="1000"/>
              </a:spcBef>
              <a:spcAft>
                <a:spcPts val="0"/>
              </a:spcAft>
              <a:buClr>
                <a:schemeClr val="lt1"/>
              </a:buClr>
              <a:buSzPts val="2200"/>
              <a:buNone/>
            </a:pPr>
            <a:endParaRPr dirty="0"/>
          </a:p>
        </p:txBody>
      </p:sp>
      <p:pic>
        <p:nvPicPr>
          <p:cNvPr id="183" name="Google Shape;183;p7"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8"/>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TRIPLE-A POLICIES</a:t>
            </a:r>
            <a:endParaRPr/>
          </a:p>
        </p:txBody>
      </p:sp>
      <p:sp>
        <p:nvSpPr>
          <p:cNvPr id="189" name="Google Shape;189;p8"/>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r>
              <a:rPr lang="en-US" sz="2400" dirty="0"/>
              <a:t>Authentication: MFA, strong passwords</a:t>
            </a:r>
          </a:p>
          <a:p>
            <a:r>
              <a:rPr lang="en-US" sz="2400" dirty="0"/>
              <a:t>Authorization: Role-based access</a:t>
            </a:r>
          </a:p>
          <a:p>
            <a:r>
              <a:rPr lang="en-US" sz="2400" dirty="0"/>
              <a:t>Accounting: Logging and auditing</a:t>
            </a:r>
          </a:p>
        </p:txBody>
      </p:sp>
      <p:pic>
        <p:nvPicPr>
          <p:cNvPr id="190" name="Google Shape;190;p8"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a:t>Unit Testing</a:t>
            </a:r>
            <a:endParaRPr/>
          </a:p>
        </p:txBody>
      </p:sp>
      <p:sp>
        <p:nvSpPr>
          <p:cNvPr id="196" name="Google Shape;196;g9504e29505_0_0"/>
          <p:cNvSpPr txBox="1">
            <a:spLocks noGrp="1"/>
          </p:cNvSpPr>
          <p:nvPr>
            <p:ph type="body" idx="1"/>
          </p:nvPr>
        </p:nvSpPr>
        <p:spPr>
          <a:xfrm>
            <a:off x="685800" y="2194560"/>
            <a:ext cx="10820400" cy="4024200"/>
          </a:xfrm>
          <a:prstGeom prst="rect">
            <a:avLst/>
          </a:prstGeom>
          <a:noFill/>
          <a:ln>
            <a:noFill/>
          </a:ln>
        </p:spPr>
        <p:txBody>
          <a:bodyPr spcFirstLastPara="1" wrap="square" lIns="91425" tIns="45700" rIns="91425" bIns="45700" anchor="t" anchorCtr="0">
            <a:noAutofit/>
          </a:bodyPr>
          <a:lstStyle/>
          <a:p>
            <a:r>
              <a:rPr lang="en-US" dirty="0"/>
              <a:t>Input validation test</a:t>
            </a:r>
          </a:p>
          <a:p>
            <a:r>
              <a:rPr lang="en-US" dirty="0"/>
              <a:t>Valid input accepted</a:t>
            </a:r>
          </a:p>
          <a:p>
            <a:r>
              <a:rPr lang="en-US" dirty="0"/>
              <a:t>Expected result passed</a:t>
            </a:r>
          </a:p>
        </p:txBody>
      </p:sp>
      <p:pic>
        <p:nvPicPr>
          <p:cNvPr id="197" name="Google Shape;197;g9504e29505_0_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AUTOMATION SUMMARY</a:t>
            </a:r>
            <a:endParaRPr/>
          </a:p>
        </p:txBody>
      </p:sp>
      <p:pic>
        <p:nvPicPr>
          <p:cNvPr id="203" name="Google Shape;203;p9"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p:cNvPicPr preferRelativeResize="0">
            <a:picLocks noGrp="1"/>
          </p:cNvPicPr>
          <p:nvPr>
            <p:ph type="body" idx="1"/>
          </p:nvPr>
        </p:nvPicPr>
        <p:blipFill rotWithShape="1">
          <a:blip r:embed="rId4">
            <a:alphaModFix/>
          </a:blip>
          <a:srcRect/>
          <a:stretch/>
        </p:blipFill>
        <p:spPr>
          <a:xfrm>
            <a:off x="2127250" y="2199481"/>
            <a:ext cx="7937500" cy="4013200"/>
          </a:xfrm>
          <a:prstGeom prst="rect">
            <a:avLst/>
          </a:prstGeom>
          <a:noFill/>
          <a:ln>
            <a:noFill/>
          </a:ln>
        </p:spPr>
      </p:pic>
      <p:pic>
        <p:nvPicPr>
          <p:cNvPr id="204" name="Google Shape;204;p9"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0"/>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TOOLS</a:t>
            </a:r>
            <a:endParaRPr/>
          </a:p>
        </p:txBody>
      </p:sp>
      <p:sp>
        <p:nvSpPr>
          <p:cNvPr id="210" name="Google Shape;210;p10"/>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r>
              <a:rPr lang="en-US" dirty="0" err="1"/>
              <a:t>DevSecOps</a:t>
            </a:r>
            <a:r>
              <a:rPr lang="en-US" dirty="0"/>
              <a:t> Pipeline:</a:t>
            </a:r>
          </a:p>
          <a:p>
            <a:r>
              <a:rPr lang="en-US" dirty="0"/>
              <a:t>Plan → Code → Build → Test → Release → Deploy → Monitor</a:t>
            </a:r>
          </a:p>
          <a:p>
            <a:endParaRPr lang="en-US" dirty="0"/>
          </a:p>
          <a:p>
            <a:r>
              <a:rPr lang="en-US" dirty="0"/>
              <a:t>Tools:</a:t>
            </a:r>
          </a:p>
          <a:p>
            <a:r>
              <a:rPr lang="en-US" dirty="0"/>
              <a:t>• Visual Studio Compiler</a:t>
            </a:r>
          </a:p>
          <a:p>
            <a:r>
              <a:rPr lang="en-US" dirty="0"/>
              <a:t>• Unit Testing Framework</a:t>
            </a:r>
          </a:p>
          <a:p>
            <a:r>
              <a:rPr lang="en-US" dirty="0"/>
              <a:t>• Static Analysis Tools</a:t>
            </a:r>
          </a:p>
          <a:p>
            <a:r>
              <a:rPr lang="en-US" dirty="0"/>
              <a:t>• Vulnerability Scanners</a:t>
            </a:r>
          </a:p>
          <a:p>
            <a:pPr marL="457200" lvl="1" indent="0" algn="l" rtl="0">
              <a:lnSpc>
                <a:spcPct val="90000"/>
              </a:lnSpc>
              <a:spcBef>
                <a:spcPts val="0"/>
              </a:spcBef>
              <a:spcAft>
                <a:spcPts val="0"/>
              </a:spcAft>
              <a:buClr>
                <a:schemeClr val="lt1"/>
              </a:buClr>
              <a:buSzPts val="2000"/>
              <a:buNone/>
            </a:pPr>
            <a:endParaRPr sz="1600" dirty="0"/>
          </a:p>
        </p:txBody>
      </p:sp>
      <p:pic>
        <p:nvPicPr>
          <p:cNvPr id="211" name="Google Shape;211;p1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RISKS AND BENEFITS</a:t>
            </a:r>
            <a:endParaRPr/>
          </a:p>
        </p:txBody>
      </p:sp>
      <p:sp>
        <p:nvSpPr>
          <p:cNvPr id="217" name="Google Shape;217;p11"/>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r>
              <a:rPr lang="en-US" sz="2000" dirty="0"/>
              <a:t>Act Now:</a:t>
            </a:r>
          </a:p>
          <a:p>
            <a:r>
              <a:rPr lang="en-US" sz="2000" dirty="0"/>
              <a:t>• Reduce security risks</a:t>
            </a:r>
          </a:p>
          <a:p>
            <a:r>
              <a:rPr lang="en-US" sz="2000" dirty="0"/>
              <a:t>• Lower remediation costs</a:t>
            </a:r>
          </a:p>
          <a:p>
            <a:r>
              <a:rPr lang="en-US" sz="2000" dirty="0"/>
              <a:t>• Improve compliance</a:t>
            </a:r>
          </a:p>
          <a:p>
            <a:endParaRPr lang="en-US" sz="2000" dirty="0"/>
          </a:p>
          <a:p>
            <a:r>
              <a:rPr lang="en-US" sz="2000" dirty="0"/>
              <a:t>Wait:</a:t>
            </a:r>
          </a:p>
          <a:p>
            <a:r>
              <a:rPr lang="en-US" sz="2000" dirty="0"/>
              <a:t>• Increased breach risk</a:t>
            </a:r>
          </a:p>
          <a:p>
            <a:r>
              <a:rPr lang="en-US" sz="2000" dirty="0"/>
              <a:t>• Higher recovery costs</a:t>
            </a:r>
          </a:p>
          <a:p>
            <a:r>
              <a:rPr lang="en-US" sz="2000" dirty="0"/>
              <a:t>• Potential data loss</a:t>
            </a:r>
          </a:p>
        </p:txBody>
      </p:sp>
      <p:pic>
        <p:nvPicPr>
          <p:cNvPr id="218" name="Google Shape;218;p11"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RECOMMENDATIONS</a:t>
            </a:r>
            <a:endParaRPr/>
          </a:p>
        </p:txBody>
      </p:sp>
      <p:sp>
        <p:nvSpPr>
          <p:cNvPr id="224" name="Google Shape;224;p12"/>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114300" indent="0">
              <a:buNone/>
            </a:pPr>
            <a:r>
              <a:rPr lang="en-US" dirty="0"/>
              <a:t>• Increase automated testing</a:t>
            </a:r>
          </a:p>
          <a:p>
            <a:pPr marL="114300" indent="0">
              <a:buNone/>
            </a:pPr>
            <a:r>
              <a:rPr lang="en-US" dirty="0"/>
              <a:t>• Expand security training</a:t>
            </a:r>
          </a:p>
          <a:p>
            <a:pPr marL="114300" indent="0">
              <a:buNone/>
            </a:pPr>
            <a:r>
              <a:rPr lang="en-US" dirty="0"/>
              <a:t>• Conduct regular code reviews</a:t>
            </a:r>
          </a:p>
          <a:p>
            <a:pPr marL="114300" indent="0">
              <a:buNone/>
            </a:pPr>
            <a:r>
              <a:rPr lang="en-US" dirty="0"/>
              <a:t>• Implement continuous monitoring</a:t>
            </a:r>
          </a:p>
        </p:txBody>
      </p:sp>
      <p:pic>
        <p:nvPicPr>
          <p:cNvPr id="225" name="Google Shape;225;p12"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CONCLUSIONS</a:t>
            </a:r>
            <a:endParaRPr/>
          </a:p>
        </p:txBody>
      </p:sp>
      <p:sp>
        <p:nvSpPr>
          <p:cNvPr id="231" name="Google Shape;231;p13"/>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114300" indent="0">
              <a:buNone/>
            </a:pPr>
            <a:r>
              <a:rPr lang="en-US" dirty="0"/>
              <a:t>• Follow secure coding standards</a:t>
            </a:r>
          </a:p>
          <a:p>
            <a:pPr marL="114300" indent="0">
              <a:buNone/>
            </a:pPr>
            <a:r>
              <a:rPr lang="en-US" dirty="0"/>
              <a:t>• Use defense in depth</a:t>
            </a:r>
          </a:p>
          <a:p>
            <a:pPr marL="114300" indent="0">
              <a:buNone/>
            </a:pPr>
            <a:r>
              <a:rPr lang="en-US" dirty="0"/>
              <a:t>• Continuously test for vulnerabilities</a:t>
            </a:r>
          </a:p>
          <a:p>
            <a:pPr marL="114300" indent="0">
              <a:buNone/>
            </a:pPr>
            <a:r>
              <a:rPr lang="en-US" dirty="0"/>
              <a:t>• Improve policies as threats evolve</a:t>
            </a:r>
          </a:p>
          <a:p>
            <a:pPr marL="228600" lvl="0" indent="-88900" algn="l" rtl="0">
              <a:lnSpc>
                <a:spcPct val="90000"/>
              </a:lnSpc>
              <a:spcBef>
                <a:spcPts val="1000"/>
              </a:spcBef>
              <a:spcAft>
                <a:spcPts val="0"/>
              </a:spcAft>
              <a:buClr>
                <a:schemeClr val="lt1"/>
              </a:buClr>
              <a:buSzPts val="2200"/>
              <a:buNone/>
            </a:pPr>
            <a:endParaRPr dirty="0"/>
          </a:p>
        </p:txBody>
      </p:sp>
      <p:pic>
        <p:nvPicPr>
          <p:cNvPr id="232" name="Google Shape;232;p13"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REFERENCES</a:t>
            </a:r>
            <a:endParaRPr/>
          </a:p>
        </p:txBody>
      </p:sp>
      <p:sp>
        <p:nvSpPr>
          <p:cNvPr id="238" name="Google Shape;238;p14"/>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r>
              <a:rPr lang="en-US" dirty="0"/>
              <a:t>OWASP Top 10</a:t>
            </a:r>
          </a:p>
          <a:p>
            <a:r>
              <a:rPr lang="en-US" dirty="0"/>
              <a:t>https://owasp.org/www-project-top-ten/</a:t>
            </a:r>
          </a:p>
          <a:p>
            <a:endParaRPr lang="en-US" dirty="0"/>
          </a:p>
          <a:p>
            <a:r>
              <a:rPr lang="en-US" dirty="0"/>
              <a:t>NIST Cybersecurity Framework</a:t>
            </a:r>
          </a:p>
          <a:p>
            <a:r>
              <a:rPr lang="en-US"/>
              <a:t>https://www.nist.gov/cyberframework</a:t>
            </a:r>
            <a:endParaRPr lang="en-US" dirty="0"/>
          </a:p>
        </p:txBody>
      </p:sp>
      <p:pic>
        <p:nvPicPr>
          <p:cNvPr id="239" name="Google Shape;239;p14"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9267F6D1A260A4394C18F5AF72445EA" ma:contentTypeVersion="3" ma:contentTypeDescription="Create a new document." ma:contentTypeScope="" ma:versionID="d6a723735a0ade9a92961b83aee31dda">
  <xsd:schema xmlns:xsd="http://www.w3.org/2001/XMLSchema" xmlns:xs="http://www.w3.org/2001/XMLSchema" xmlns:p="http://schemas.microsoft.com/office/2006/metadata/properties" targetNamespace="http://schemas.microsoft.com/office/2006/metadata/properties" ma:root="true" ma:fieldsID="e345bd7673956a623930e5662e321f3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398236C-7FA9-40C9-B456-AA158A506A32}">
  <ds:schemaRefs>
    <ds:schemaRef ds:uri="http://schemas.microsoft.com/sharepoint/v3/contenttype/forms"/>
  </ds:schemaRefs>
</ds:datastoreItem>
</file>

<file path=customXml/itemProps2.xml><?xml version="1.0" encoding="utf-8"?>
<ds:datastoreItem xmlns:ds="http://schemas.openxmlformats.org/officeDocument/2006/customXml" ds:itemID="{3DB4D054-FC38-43E0-B24C-8E3420B75B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3E9B35DD-16B6-4415-A905-CDACA4FC6DBE}">
  <ds:schemaRefs>
    <ds:schemaRef ds:uri="http://schemas.openxmlformats.org/package/2006/metadata/core-properties"/>
    <ds:schemaRef ds:uri="http://www.w3.org/XML/1998/namespace"/>
    <ds:schemaRef ds:uri="http://schemas.microsoft.com/office/2006/documentManagement/types"/>
    <ds:schemaRef ds:uri="http://purl.org/dc/elements/1.1/"/>
    <ds:schemaRef ds:uri="http://purl.org/dc/dcmitype/"/>
    <ds:schemaRef ds:uri="http://schemas.microsoft.com/office/2006/metadata/properties"/>
    <ds:schemaRef ds:uri="http://schemas.microsoft.com/office/infopath/2007/PartnerControls"/>
    <ds:schemaRef ds:uri="http://purl.org/dc/terms/"/>
  </ds:schemaRefs>
</ds:datastoreItem>
</file>

<file path=docProps/app.xml><?xml version="1.0" encoding="utf-8"?>
<Properties xmlns="http://schemas.openxmlformats.org/officeDocument/2006/extended-properties" xmlns:vt="http://schemas.openxmlformats.org/officeDocument/2006/docPropsVTypes">
  <TotalTime>22</TotalTime>
  <Words>288</Words>
  <Application>Microsoft Office PowerPoint</Application>
  <PresentationFormat>Widescreen</PresentationFormat>
  <Paragraphs>89</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Century Gothic</vt:lpstr>
      <vt:lpstr>Arial</vt:lpstr>
      <vt:lpstr>Vapor Trail</vt:lpstr>
      <vt:lpstr>Green Pace</vt:lpstr>
      <vt:lpstr>OVERVIEW: DEFENSE IN DEPTH</vt:lpstr>
      <vt:lpstr>THREATS MATRIX</vt:lpstr>
      <vt:lpstr>10 PRINCIPLES</vt:lpstr>
      <vt:lpstr>CODING STANDARDS</vt:lpstr>
      <vt:lpstr>ENCRYPTION POLICIES</vt:lpstr>
      <vt:lpstr>TRIPLE-A POLICIES</vt:lpstr>
      <vt:lpstr>Unit Testing</vt:lpstr>
      <vt:lpstr>AUTOMATION SUMMARY</vt:lpstr>
      <vt:lpstr>TOOLS</vt:lpstr>
      <vt:lpstr>RISKS AND BENEFITS</vt:lpstr>
      <vt:lpstr>RECOMMENDATIONS</vt:lpstr>
      <vt:lpstr>CONCLUSIONS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405 Project Two Presentation Template</dc:title>
  <dc:creator>Kathy Shields</dc:creator>
  <cp:lastModifiedBy>chris plympton</cp:lastModifiedBy>
  <cp:revision>6</cp:revision>
  <dcterms:created xsi:type="dcterms:W3CDTF">2020-08-19T17:59:24Z</dcterms:created>
  <dcterms:modified xsi:type="dcterms:W3CDTF">2026-06-22T00:28:59Z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ies>
</file>